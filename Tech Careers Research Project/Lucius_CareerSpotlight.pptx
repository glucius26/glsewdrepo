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711" autoAdjust="0"/>
  </p:normalViewPr>
  <p:slideViewPr>
    <p:cSldViewPr snapToGrid="0">
      <p:cViewPr varScale="1">
        <p:scale>
          <a:sx n="103" d="100"/>
          <a:sy n="103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c_glucius26\Downloads\LocalWages_15-1254.00_O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[LocalWages_15-1254.00_OH.xlsx]Sheet2!PivotTable32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Count of Annual Low (10%) by Annual High (90%)</a:t>
            </a:r>
          </a:p>
        </c:rich>
      </c:tx>
      <c:layout>
        <c:manualLayout>
          <c:xMode val="edge"/>
          <c:yMode val="edge"/>
          <c:x val="0.11439277459871039"/>
          <c:y val="2.08333333333333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Sheet2!$A$4:$A$14</c:f>
              <c:strCache>
                <c:ptCount val="11"/>
                <c:pt idx="0">
                  <c:v>$124,050</c:v>
                </c:pt>
                <c:pt idx="1">
                  <c:v>$133,780</c:v>
                </c:pt>
                <c:pt idx="2">
                  <c:v>$142,420</c:v>
                </c:pt>
                <c:pt idx="3">
                  <c:v>$162,870</c:v>
                </c:pt>
                <c:pt idx="4">
                  <c:v>$163,040</c:v>
                </c:pt>
                <c:pt idx="5">
                  <c:v>$185,640</c:v>
                </c:pt>
                <c:pt idx="6">
                  <c:v>$192,920</c:v>
                </c:pt>
                <c:pt idx="7">
                  <c:v>$197,070</c:v>
                </c:pt>
                <c:pt idx="8">
                  <c:v>$198,960</c:v>
                </c:pt>
                <c:pt idx="9">
                  <c:v>$201,790</c:v>
                </c:pt>
                <c:pt idx="10">
                  <c:v>$202,540</c:v>
                </c:pt>
              </c:strCache>
            </c:strRef>
          </c:cat>
          <c:val>
            <c:numRef>
              <c:f>Sheet2!$B$4:$B$14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E-488D-9FA2-56EE4E42E5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7853248"/>
        <c:axId val="1467857824"/>
      </c:barChart>
      <c:catAx>
        <c:axId val="1467853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7857824"/>
        <c:crosses val="autoZero"/>
        <c:auto val="1"/>
        <c:lblAlgn val="ctr"/>
        <c:lblOffset val="100"/>
        <c:noMultiLvlLbl val="0"/>
      </c:catAx>
      <c:valAx>
        <c:axId val="146785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7853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E1A-710D-4AE3-9FBD-DA550524660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0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E6E1A-710D-4AE3-9FBD-DA550524660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9D69347-1E05-401D-AC0F-F4B4CD988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72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etonline.org/link/localwages/15-1254.00?st=OH" TargetMode="External"/><Relationship Id="rId2" Type="http://schemas.openxmlformats.org/officeDocument/2006/relationships/hyperlink" Target="https://www.careeronestop.org/Toolkit/Careers/Occupations/occupation-profile.aspx?keyword=Web%20Developers&amp;onetcode=15125400&amp;location=UNITED%20STAT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17D12B-57AB-41A6-8B0E-D27F2A00E5FA}"/>
              </a:ext>
            </a:extLst>
          </p:cNvPr>
          <p:cNvSpPr txBox="1"/>
          <p:nvPr/>
        </p:nvSpPr>
        <p:spPr>
          <a:xfrm>
            <a:off x="0" y="809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Web Developer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4EDC1-9933-4CA1-ADA0-870708DD61AE}"/>
              </a:ext>
            </a:extLst>
          </p:cNvPr>
          <p:cNvSpPr txBox="1"/>
          <p:nvPr/>
        </p:nvSpPr>
        <p:spPr>
          <a:xfrm>
            <a:off x="0" y="69516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ook Antiqua" panose="02040602050305030304" pitchFamily="18" charset="0"/>
              </a:rPr>
              <a:t>Griffin Lucius – SEWD 2025</a:t>
            </a:r>
          </a:p>
        </p:txBody>
      </p:sp>
      <p:pic>
        <p:nvPicPr>
          <p:cNvPr id="3" name="Picture 2" descr="A close up of a network.">
            <a:extLst>
              <a:ext uri="{FF2B5EF4-FFF2-40B4-BE49-F238E27FC236}">
                <a16:creationId xmlns:a16="http://schemas.microsoft.com/office/drawing/2014/main" id="{170E33F9-7F88-4066-9BAF-A319E41F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1391232"/>
            <a:ext cx="8150352" cy="458457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2920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879A57-C39F-4B6A-8A8A-6C255DB9F666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What They 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FA62B-D3ED-4D9A-96AE-46F3CFFA3F04}"/>
              </a:ext>
            </a:extLst>
          </p:cNvPr>
          <p:cNvSpPr txBox="1"/>
          <p:nvPr/>
        </p:nvSpPr>
        <p:spPr>
          <a:xfrm>
            <a:off x="91440" y="206676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74DA434-0E4B-4E83-AC13-A9455638D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428" y="1054667"/>
            <a:ext cx="70500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Book Antiqua" panose="02040602050305030304" pitchFamily="18" charset="0"/>
              </a:rPr>
              <a:t>Write code for the creation, maintenance, and implementation for websites using all variety of tools like authoring/scripting languages, management tools, and digital media. </a:t>
            </a:r>
          </a:p>
          <a:p>
            <a:pPr marL="171450" indent="-171450" algn="ctr">
              <a:buFont typeface="Wingdings" panose="05000000000000000000" pitchFamily="2" charset="2"/>
              <a:buChar char="q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Book Antiqua" panose="02040602050305030304" pitchFamily="18" charset="0"/>
              </a:rPr>
              <a:t>Collaborate with management and other development teams in order to create the desired end products.</a:t>
            </a:r>
          </a:p>
          <a:p>
            <a:pPr marL="171450" indent="-171450" algn="ctr">
              <a:buFont typeface="Wingdings" panose="05000000000000000000" pitchFamily="2" charset="2"/>
              <a:buChar char="q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Book Antiqua" panose="02040602050305030304" pitchFamily="18" charset="0"/>
              </a:rPr>
              <a:t>Get information, think creatively, organize/plan/prioritize work, documenting/recording information, processing information and creating electronic data backup to prevent loss of information</a:t>
            </a:r>
            <a:r>
              <a:rPr lang="en-US" altLang="en-US" dirty="0">
                <a:latin typeface="Book Antiqua" panose="02040602050305030304" pitchFamily="18" charset="0"/>
              </a:rPr>
              <a:t>.</a:t>
            </a:r>
          </a:p>
        </p:txBody>
      </p:sp>
      <p:pic>
        <p:nvPicPr>
          <p:cNvPr id="4" name="Graphic 3" descr="Pencil with solid fill">
            <a:extLst>
              <a:ext uri="{FF2B5EF4-FFF2-40B4-BE49-F238E27FC236}">
                <a16:creationId xmlns:a16="http://schemas.microsoft.com/office/drawing/2014/main" id="{54C253F2-9995-4E7F-889D-89C5FF8BE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2452" y="1324338"/>
            <a:ext cx="914400" cy="914400"/>
          </a:xfrm>
          <a:prstGeom prst="rect">
            <a:avLst/>
          </a:prstGeom>
        </p:spPr>
      </p:pic>
      <p:pic>
        <p:nvPicPr>
          <p:cNvPr id="6" name="Graphic 5" descr="Three human figures with solid fill">
            <a:extLst>
              <a:ext uri="{FF2B5EF4-FFF2-40B4-BE49-F238E27FC236}">
                <a16:creationId xmlns:a16="http://schemas.microsoft.com/office/drawing/2014/main" id="{858DCE5F-15B6-4824-8D22-C4BE5AE7A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0569" y="2896857"/>
            <a:ext cx="1098166" cy="1098166"/>
          </a:xfrm>
          <a:prstGeom prst="rect">
            <a:avLst/>
          </a:prstGeom>
        </p:spPr>
      </p:pic>
      <p:pic>
        <p:nvPicPr>
          <p:cNvPr id="10" name="Graphic 9" descr="Eye with solid fill">
            <a:extLst>
              <a:ext uri="{FF2B5EF4-FFF2-40B4-BE49-F238E27FC236}">
                <a16:creationId xmlns:a16="http://schemas.microsoft.com/office/drawing/2014/main" id="{48EBFB62-E507-49B3-B36E-96FF3FB1D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0569" y="4693094"/>
            <a:ext cx="1098167" cy="109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9964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47A07-E491-4307-9BCB-C661AA53039A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Education &amp; Skills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6B0699-495F-4B6C-B756-59AEA520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16" y="487025"/>
            <a:ext cx="525627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Book Antiqua" panose="02040602050305030304" pitchFamily="18" charset="0"/>
              </a:rPr>
              <a:t>Hard:</a:t>
            </a:r>
          </a:p>
          <a:p>
            <a:pPr algn="ctr"/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High School Diploma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Bachelor's Degree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Computers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Electronics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English Language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Mathematics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Communications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Media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C7832-FB51-41E1-9051-39BF8F36D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796" y="487025"/>
            <a:ext cx="4572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Book Antiqua" panose="02040602050305030304" pitchFamily="18" charset="0"/>
              </a:rPr>
              <a:t>Soft:</a:t>
            </a:r>
          </a:p>
          <a:p>
            <a:pPr algn="ctr"/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Deductive Reasoning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Oral Comprehension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Near Vision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Written Comprehension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problem sensitivity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Information Ordering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Inductive Reasoning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 speech clarity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US" altLang="en-US" sz="2400" dirty="0">
              <a:latin typeface="Book Antiqua" panose="0204060205030503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Book Antiqua" panose="02040602050305030304" pitchFamily="18" charset="0"/>
              </a:rPr>
              <a:t>speech recognition</a:t>
            </a:r>
          </a:p>
        </p:txBody>
      </p:sp>
      <p:pic>
        <p:nvPicPr>
          <p:cNvPr id="6" name="Graphic 5" descr="Muscular arm with solid fill">
            <a:extLst>
              <a:ext uri="{FF2B5EF4-FFF2-40B4-BE49-F238E27FC236}">
                <a16:creationId xmlns:a16="http://schemas.microsoft.com/office/drawing/2014/main" id="{DEC55874-A625-4CEA-8EF9-2D9EBF5BB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9947" y="384720"/>
            <a:ext cx="519404" cy="519404"/>
          </a:xfrm>
          <a:prstGeom prst="rect">
            <a:avLst/>
          </a:prstGeom>
        </p:spPr>
      </p:pic>
      <p:pic>
        <p:nvPicPr>
          <p:cNvPr id="8" name="Graphic 7" descr="Brain in head with solid fill">
            <a:extLst>
              <a:ext uri="{FF2B5EF4-FFF2-40B4-BE49-F238E27FC236}">
                <a16:creationId xmlns:a16="http://schemas.microsoft.com/office/drawing/2014/main" id="{D3880D02-4BFB-4CAD-BFBD-9AA052681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1257" y="321031"/>
            <a:ext cx="646782" cy="64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7878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9B81ED-764B-4898-ABD4-34405B43D2FF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Salary Snapshot</a:t>
            </a:r>
          </a:p>
        </p:txBody>
      </p:sp>
      <p:sp>
        <p:nvSpPr>
          <p:cNvPr id="7" name="Rectangle 6" descr="Red - Yellow - Green gradient">
            <a:extLst>
              <a:ext uri="{FF2B5EF4-FFF2-40B4-BE49-F238E27FC236}">
                <a16:creationId xmlns:a16="http://schemas.microsoft.com/office/drawing/2014/main" id="{56C326B9-169D-45C2-BEE0-F5E69441BDEE}"/>
              </a:ext>
            </a:extLst>
          </p:cNvPr>
          <p:cNvSpPr/>
          <p:nvPr/>
        </p:nvSpPr>
        <p:spPr>
          <a:xfrm>
            <a:off x="5212080" y="1221717"/>
            <a:ext cx="1993392" cy="4941339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50000">
                <a:srgbClr val="FFFF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6D7FD-60E4-4FE1-8351-EC060F6B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055" y="1221717"/>
            <a:ext cx="239344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Entry-level Salary Range:</a:t>
            </a:r>
          </a:p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$42,690 - $111,959</a:t>
            </a:r>
          </a:p>
          <a:p>
            <a:pPr marL="171450" indent="-171450" algn="ctr">
              <a:buFont typeface="Wingdings" panose="05000000000000000000" pitchFamily="2" charset="2"/>
              <a:buChar char="q"/>
            </a:pPr>
            <a:endParaRPr lang="en-US" altLang="en-US" dirty="0">
              <a:latin typeface="Book Antiqua" panose="020406020503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A3AB75-AF1F-4884-ABB8-D1E0E035C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055" y="3068376"/>
            <a:ext cx="23934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Mid-level Salary Range:</a:t>
            </a:r>
          </a:p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$47,389 - $144,030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CA6C6-EA2D-4092-87B7-5DF52F76E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5662" y="4962727"/>
            <a:ext cx="258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Senior-level Salary Range:</a:t>
            </a:r>
          </a:p>
          <a:p>
            <a:pPr algn="ctr"/>
            <a:r>
              <a:rPr lang="en-US" altLang="en-US" sz="2400" dirty="0">
                <a:highlight>
                  <a:srgbClr val="000000"/>
                </a:highlight>
                <a:latin typeface="Book Antiqua" panose="02040602050305030304" pitchFamily="18" charset="0"/>
              </a:rPr>
              <a:t>$111K - $182K</a:t>
            </a:r>
          </a:p>
        </p:txBody>
      </p:sp>
    </p:spTree>
    <p:extLst>
      <p:ext uri="{BB962C8B-B14F-4D97-AF65-F5344CB8AC3E}">
        <p14:creationId xmlns:p14="http://schemas.microsoft.com/office/powerpoint/2010/main" val="16564451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5F69B-91E3-466E-A76C-E14319036F28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Job Outlook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5166-FA32-4C4F-8F5E-0B52DA13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589" y="963227"/>
            <a:ext cx="447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Book Antiqua" panose="02040602050305030304" pitchFamily="18" charset="0"/>
              </a:rPr>
              <a:t>Growth Rate(next 10 years): 7%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490F3-0419-4CAF-840F-2E08CA5B3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149" y="3989250"/>
            <a:ext cx="447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Book Antiqua" panose="02040602050305030304" pitchFamily="18" charset="0"/>
              </a:rPr>
              <a:t>Demand Level: High Demand</a:t>
            </a:r>
          </a:p>
        </p:txBody>
      </p:sp>
      <p:pic>
        <p:nvPicPr>
          <p:cNvPr id="6" name="Graphic 5" descr="Upward trend with solid fill">
            <a:extLst>
              <a:ext uri="{FF2B5EF4-FFF2-40B4-BE49-F238E27FC236}">
                <a16:creationId xmlns:a16="http://schemas.microsoft.com/office/drawing/2014/main" id="{458678B3-2D8C-418A-9055-2C49DE92B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7192" y="1668263"/>
            <a:ext cx="2077616" cy="2077616"/>
          </a:xfrm>
          <a:prstGeom prst="rect">
            <a:avLst/>
          </a:prstGeom>
        </p:spPr>
      </p:pic>
      <p:pic>
        <p:nvPicPr>
          <p:cNvPr id="8" name="Graphic 7" descr="Business Growth with solid fill">
            <a:extLst>
              <a:ext uri="{FF2B5EF4-FFF2-40B4-BE49-F238E27FC236}">
                <a16:creationId xmlns:a16="http://schemas.microsoft.com/office/drawing/2014/main" id="{2343C15E-6F0C-43E4-85EF-DF73EEA3C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7192" y="4694286"/>
            <a:ext cx="2077616" cy="20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6027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2D316B-15EB-4AEB-8693-4A6BD8F0A68A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Coursework Connection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E07E0-998D-4F9C-8E72-22D5D0BA2512}"/>
              </a:ext>
            </a:extLst>
          </p:cNvPr>
          <p:cNvSpPr txBox="1"/>
          <p:nvPr/>
        </p:nvSpPr>
        <p:spPr>
          <a:xfrm>
            <a:off x="1288161" y="1905506"/>
            <a:ext cx="97985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Programming - Obviously you need to program in order to create and maintain websites.</a:t>
            </a:r>
          </a:p>
          <a:p>
            <a:endParaRPr lang="en-US" sz="2400" dirty="0"/>
          </a:p>
          <a:p>
            <a:r>
              <a:rPr lang="en-US" sz="2400" dirty="0"/>
              <a:t>SQL/Databases - SQL is a coding language used for data collection in websites.</a:t>
            </a:r>
          </a:p>
          <a:p>
            <a:endParaRPr lang="en-US" sz="2400" dirty="0"/>
          </a:p>
          <a:p>
            <a:r>
              <a:rPr lang="en-US" sz="2400" dirty="0"/>
              <a:t>Web Design - I mean, it's web development. Web development requires web design. I believe their relation is clear.</a:t>
            </a:r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0602F337-18CC-4492-9CBB-6D7F6D910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7178" y="2138772"/>
            <a:ext cx="914400" cy="914400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CF09A922-9D59-4002-A66D-377B017FB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3611" y="3317032"/>
            <a:ext cx="914400" cy="914400"/>
          </a:xfrm>
          <a:prstGeom prst="rect">
            <a:avLst/>
          </a:prstGeom>
        </p:spPr>
      </p:pic>
      <p:pic>
        <p:nvPicPr>
          <p:cNvPr id="10" name="Graphic 9" descr="Social network with solid fill">
            <a:extLst>
              <a:ext uri="{FF2B5EF4-FFF2-40B4-BE49-F238E27FC236}">
                <a16:creationId xmlns:a16="http://schemas.microsoft.com/office/drawing/2014/main" id="{E482FD5E-B0FA-429E-BB02-9DDAABB3A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8260" y="4353779"/>
            <a:ext cx="1197429" cy="119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926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67CB4-76DF-4AA4-9928-9C536CC1789E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Trend Chart</a:t>
            </a:r>
          </a:p>
        </p:txBody>
      </p:sp>
      <p:graphicFrame>
        <p:nvGraphicFramePr>
          <p:cNvPr id="3" name="Chart 2" descr="Chart of Annual low salary by annual high salary">
            <a:extLst>
              <a:ext uri="{FF2B5EF4-FFF2-40B4-BE49-F238E27FC236}">
                <a16:creationId xmlns:a16="http://schemas.microsoft.com/office/drawing/2014/main" id="{7AAF933B-CDF6-482A-959E-9CEC7DD9BC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754681"/>
              </p:ext>
            </p:extLst>
          </p:nvPr>
        </p:nvGraphicFramePr>
        <p:xfrm>
          <a:off x="3262884" y="1600200"/>
          <a:ext cx="56662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62661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67CB4-76DF-4AA4-9928-9C536CC1789E}"/>
              </a:ext>
            </a:extLst>
          </p:cNvPr>
          <p:cNvSpPr txBox="1"/>
          <p:nvPr/>
        </p:nvSpPr>
        <p:spPr>
          <a:xfrm>
            <a:off x="182880" y="0"/>
            <a:ext cx="12009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05F78-9E55-4DFA-B8E2-20C08CB432AC}"/>
              </a:ext>
            </a:extLst>
          </p:cNvPr>
          <p:cNvSpPr txBox="1"/>
          <p:nvPr/>
        </p:nvSpPr>
        <p:spPr>
          <a:xfrm>
            <a:off x="360472" y="1829663"/>
            <a:ext cx="116539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https://www.careeronestop.org/Toolkit/Careers/Occupations/occupation-profile.aspx?keyword=Web%20Developers&amp;onetcode=15125400&amp;location=UNITED%20STATES</a:t>
            </a:r>
            <a:r>
              <a:rPr lang="en-US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E3FD4-271E-4D57-AE84-F01A93300786}"/>
              </a:ext>
            </a:extLst>
          </p:cNvPr>
          <p:cNvSpPr txBox="1"/>
          <p:nvPr/>
        </p:nvSpPr>
        <p:spPr>
          <a:xfrm>
            <a:off x="360472" y="4090215"/>
            <a:ext cx="11653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https://www.onetonline.org/link/localwages/15-1254.00?st=OH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513380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Custom 1">
      <a:majorFont>
        <a:latin typeface="Century Gothic"/>
        <a:ea typeface=""/>
        <a:cs typeface=""/>
      </a:majorFont>
      <a:minorFont>
        <a:latin typeface="Book Antiqua"/>
        <a:ea typeface="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192</TotalTime>
  <Words>298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Book Antiqua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Lucius, Griffin</dc:creator>
  <cp:lastModifiedBy>Lucius, Griffin</cp:lastModifiedBy>
  <cp:revision>17</cp:revision>
  <dcterms:created xsi:type="dcterms:W3CDTF">2025-11-03T18:08:41Z</dcterms:created>
  <dcterms:modified xsi:type="dcterms:W3CDTF">2025-11-17T16:45:47Z</dcterms:modified>
</cp:coreProperties>
</file>